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368bb8b99b4593" /><Relationship Type="http://schemas.openxmlformats.org/officeDocument/2006/relationships/extended-properties" Target="/docProps/app.xml" Id="R2c30020dc9694a4f" /><Relationship Type="http://schemas.openxmlformats.org/officeDocument/2006/relationships/officeDocument" Target="/ppt/presentation.xml" Id="R2ae3fcb76db4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565cb1c9a48a4"/>
  </p:sldMasterIdLst>
  <p:notesMasterIdLst>
    <p:notesMasterId xmlns:r="http://schemas.openxmlformats.org/officeDocument/2006/relationships" r:id="Rd880f008fd5c4ae0"/>
  </p:notesMasterIdLst>
  <p:sldIdLst>
    <p:sldId xmlns:r="http://schemas.openxmlformats.org/officeDocument/2006/relationships" id="256" r:id="R7d0f63bbc0a44f4c"/>
    <p:sldId xmlns:r="http://schemas.openxmlformats.org/officeDocument/2006/relationships" id="257" r:id="Ra8609fd6d6074eb3"/>
    <p:sldId xmlns:r="http://schemas.openxmlformats.org/officeDocument/2006/relationships" id="258" r:id="R2174e427195747ba"/>
    <p:sldId xmlns:r="http://schemas.openxmlformats.org/officeDocument/2006/relationships" id="259" r:id="Rc1460ef4f6054d6f"/>
    <p:sldId xmlns:r="http://schemas.openxmlformats.org/officeDocument/2006/relationships" id="260" r:id="R69f01492d7434289"/>
    <p:sldId xmlns:r="http://schemas.openxmlformats.org/officeDocument/2006/relationships" id="261" r:id="R9d8be2f46dfc42f8"/>
    <p:sldId xmlns:r="http://schemas.openxmlformats.org/officeDocument/2006/relationships" id="262" r:id="Rb7e5b5f6acbd4651"/>
    <p:sldId xmlns:r="http://schemas.openxmlformats.org/officeDocument/2006/relationships" id="263" r:id="Raaf0fd308ec744cd"/>
    <p:sldId xmlns:r="http://schemas.openxmlformats.org/officeDocument/2006/relationships" id="264" r:id="R2140e2b33fb34148"/>
    <p:sldId xmlns:r="http://schemas.openxmlformats.org/officeDocument/2006/relationships" id="265" r:id="R4fd15ebf470d4a0a"/>
    <p:sldId xmlns:r="http://schemas.openxmlformats.org/officeDocument/2006/relationships" id="266" r:id="Rc42586c763344ffc"/>
    <p:sldId xmlns:r="http://schemas.openxmlformats.org/officeDocument/2006/relationships" id="267" r:id="Rf948e9b3a68b49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2c730fb1d4304" /><Relationship Type="http://schemas.openxmlformats.org/officeDocument/2006/relationships/slideMaster" Target="/ppt/slideMasters/slideMaster1.xml" Id="R374565cb1c9a48a4" /><Relationship Type="http://schemas.openxmlformats.org/officeDocument/2006/relationships/notesMaster" Target="/ppt/notesMasters/notesMaster1.xml" Id="Rd880f008fd5c4ae0" /><Relationship Type="http://schemas.openxmlformats.org/officeDocument/2006/relationships/presProps" Target="/ppt/presProps.xml" Id="R83f9c6db0c324e42" /><Relationship Type="http://schemas.openxmlformats.org/officeDocument/2006/relationships/viewProps" Target="/ppt/viewProps.xml" Id="R7de03ea9bdb547d9" /><Relationship Type="http://schemas.openxmlformats.org/officeDocument/2006/relationships/tableStyles" Target="/ppt/tableStyles.xml" Id="Rff8864bea7ba48c0" /><Relationship Type="http://schemas.openxmlformats.org/officeDocument/2006/relationships/slide" Target="/ppt/slides/slide1.xml" Id="R7d0f63bbc0a44f4c" /><Relationship Type="http://schemas.openxmlformats.org/officeDocument/2006/relationships/slide" Target="/ppt/slides/slide2.xml" Id="Ra8609fd6d6074eb3" /><Relationship Type="http://schemas.openxmlformats.org/officeDocument/2006/relationships/slide" Target="/ppt/slides/slide3.xml" Id="R2174e427195747ba" /><Relationship Type="http://schemas.openxmlformats.org/officeDocument/2006/relationships/slide" Target="/ppt/slides/slide4.xml" Id="Rc1460ef4f6054d6f" /><Relationship Type="http://schemas.openxmlformats.org/officeDocument/2006/relationships/slide" Target="/ppt/slides/slide5.xml" Id="R69f01492d7434289" /><Relationship Type="http://schemas.openxmlformats.org/officeDocument/2006/relationships/slide" Target="/ppt/slides/slide6.xml" Id="R9d8be2f46dfc42f8" /><Relationship Type="http://schemas.openxmlformats.org/officeDocument/2006/relationships/slide" Target="/ppt/slides/slide7.xml" Id="Rb7e5b5f6acbd4651" /><Relationship Type="http://schemas.openxmlformats.org/officeDocument/2006/relationships/slide" Target="/ppt/slides/slide8.xml" Id="Raaf0fd308ec744cd" /><Relationship Type="http://schemas.openxmlformats.org/officeDocument/2006/relationships/slide" Target="/ppt/slides/slide9.xml" Id="R2140e2b33fb34148" /><Relationship Type="http://schemas.openxmlformats.org/officeDocument/2006/relationships/slide" Target="/ppt/slides/slide10.xml" Id="R4fd15ebf470d4a0a" /><Relationship Type="http://schemas.openxmlformats.org/officeDocument/2006/relationships/slide" Target="/ppt/slides/slide11.xml" Id="Rc42586c763344ffc" /><Relationship Type="http://schemas.openxmlformats.org/officeDocument/2006/relationships/slide" Target="/ppt/slides/slide12.xml" Id="Rf948e9b3a68b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7a3aea8386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e3fbbfff394258" /><Relationship Type="http://schemas.openxmlformats.org/officeDocument/2006/relationships/notesMaster" Target="/ppt/notesMasters/notesMaster1.xml" Id="R1ae927650c58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2f0fc202043f7" /><Relationship Type="http://schemas.openxmlformats.org/officeDocument/2006/relationships/notesMaster" Target="/ppt/notesMasters/notesMaster1.xml" Id="R6167b614bd35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3338c00f50468b" /><Relationship Type="http://schemas.openxmlformats.org/officeDocument/2006/relationships/notesMaster" Target="/ppt/notesMasters/notesMaster1.xml" Id="R2d0f9b931af0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33f5c93c64790" /><Relationship Type="http://schemas.openxmlformats.org/officeDocument/2006/relationships/notesMaster" Target="/ppt/notesMasters/notesMaster1.xml" Id="Rda543e7a22e3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25a63d81742ed" /><Relationship Type="http://schemas.openxmlformats.org/officeDocument/2006/relationships/notesMaster" Target="/ppt/notesMasters/notesMaster1.xml" Id="R32a1bd7fca454d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e7294909842f2" /><Relationship Type="http://schemas.openxmlformats.org/officeDocument/2006/relationships/notesMaster" Target="/ppt/notesMasters/notesMaster1.xml" Id="R33218fde1e104a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88aba778b14c86" /><Relationship Type="http://schemas.openxmlformats.org/officeDocument/2006/relationships/notesMaster" Target="/ppt/notesMasters/notesMaster1.xml" Id="Rcbfc1fe9862f43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12fab211834f9a" /><Relationship Type="http://schemas.openxmlformats.org/officeDocument/2006/relationships/notesMaster" Target="/ppt/notesMasters/notesMaster1.xml" Id="Rc25166845769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b2166ab2941de" /><Relationship Type="http://schemas.openxmlformats.org/officeDocument/2006/relationships/notesMaster" Target="/ppt/notesMasters/notesMaster1.xml" Id="R46827b9add854e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1aacf4b139436d" /><Relationship Type="http://schemas.openxmlformats.org/officeDocument/2006/relationships/notesMaster" Target="/ppt/notesMasters/notesMaster1.xml" Id="R3a634d97ef9f4d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1af07d5ee54ca4" /><Relationship Type="http://schemas.openxmlformats.org/officeDocument/2006/relationships/notesMaster" Target="/ppt/notesMasters/notesMaster1.xml" Id="Rf220a56d094945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9fe03faff8430b" /><Relationship Type="http://schemas.openxmlformats.org/officeDocument/2006/relationships/notesMaster" Target="/ppt/notesMasters/notesMaster1.xml" Id="Ra6c4d5e3187e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naming and runtime contract: release/metroguard-lct2026/README.md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release/metroguard-lct2026/README.md</a:t>
            </a:r>
          </a:p>
          <a:p xmlns:a="http://schemas.openxmlformats.org/drawingml/2006/main">
            <a:r>
              <a:t>- release/metroguard-lct2026/experiments/registry.json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Team name and roster confirmed by the team owner: ITMO GPT; Кирпа Дмитрий and Юрий.</a:t>
            </a:r>
            <a:endParaRPr/>
          </a:p>
          <a:p xmlns:a="http://schemas.openxmlformats.org/drawingml/2006/main">
            <a:r>
              <a:t>- Team mark generated specifically for this deck with OpenAI image generation; no external brand asset used.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release/metroguard-lct2026/experiments/registry.json (69 experiments)</a:t>
            </a:r>
            <a:endParaRPr/>
          </a:p>
          <a:p xmlns:a="http://schemas.openxmlformats.org/drawingml/2006/main">
            <a:r>
              <a:t>- HACKATHON_TASK_BRIEF.md (false-positive priority and missing frame labels)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release/metroguard-lct2026/lidar_geometry/runtime_detector.py</a:t>
            </a:r>
          </a:p>
          <a:p xmlns:a="http://schemas.openxmlformats.org/drawingml/2006/main">
            <a:r>
              <a:t>- release/metroguard-lct2026/RESULTS.md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release/metroguard-lct2026/lidar_geometry/artifacts/competition_scorecard_exp067.json</a:t>
            </a:r>
          </a:p>
          <a:p xmlns:a="http://schemas.openxmlformats.org/drawingml/2006/main">
            <a:r>
              <a:t>- release/metroguard-lct2026/lidar_geometry/artifacts/linear_extra_trees_hybrid.npz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HACKATHON_TASK_BRIEF.md</a:t>
            </a:r>
          </a:p>
          <a:p xmlns:a="http://schemas.openxmlformats.org/drawingml/2006/main">
            <a:r>
              <a:t>- lidar_geometry/QNA_NOTES.md</a:t>
            </a:r>
          </a:p>
          <a:p xmlns:a="http://schemas.openxmlformats.org/drawingml/2006/main">
            <a:r>
              <a:t>- release/metroguard-lct2026/RESULTS.md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release/metroguard-lct2026/lidar_geometry/runtime_detector.py</a:t>
            </a:r>
          </a:p>
          <a:p xmlns:a="http://schemas.openxmlformats.org/drawingml/2006/main">
            <a:r>
              <a:t>- release/metroguard-lct2026/lidar_geometry/fast_detector.py</a:t>
            </a:r>
          </a:p>
          <a:p xmlns:a="http://schemas.openxmlformats.org/drawingml/2006/main">
            <a:r>
              <a:t>- release/metroguard-lct2026/lidar_geometry/portable_trees.py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release/metroguard-lct2026/lidar_geometry/artifacts/competition_scorecard_exp067.json</a:t>
            </a:r>
          </a:p>
          <a:p xmlns:a="http://schemas.openxmlformats.org/drawingml/2006/main">
            <a:r>
              <a:t>- release/metroguard-lct2026/experiments/registry.json (EXP-067)</a:t>
            </a:r>
          </a:p>
          <a:p xmlns:a="http://schemas.openxmlformats.org/drawingml/2006/main">
            <a:r>
              <a:t>- 79 tests = 64 lidar_geometry + 15 demo_app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release/metroguard-lct2026/lidar_geometry/synthetic.py</a:t>
            </a:r>
          </a:p>
          <a:p xmlns:a="http://schemas.openxmlformats.org/drawingml/2006/main">
            <a:r>
              <a:t>- release/metroguard-lct2026/lidar_geometry/artifacts/scenario_benchmark.json</a:t>
            </a:r>
          </a:p>
          <a:p xmlns:a="http://schemas.openxmlformats.org/drawingml/2006/main">
            <a:r>
              <a:t>- release/metroguard-lct2026/RESULTS.md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demo: https://93-77-179-211.nip.io</a:t>
            </a:r>
          </a:p>
          <a:p xmlns:a="http://schemas.openxmlformats.org/drawingml/2006/main">
            <a:r>
              <a:t>- release/metroguard-lct2026/demo_app/</a:t>
            </a:r>
          </a:p>
          <a:p xmlns:a="http://schemas.openxmlformats.org/drawingml/2006/main">
            <a:r>
              <a:t>- Screenshot uses a real organizer recording; it is qualitative evidence, not ground truth.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release/metroguard-lct2026/RESULTS.md</a:t>
            </a:r>
          </a:p>
          <a:p xmlns:a="http://schemas.openxmlformats.org/drawingml/2006/main">
            <a:r>
              <a:t>- release/metroguard-lct2026/lidar_geometry/artifacts/competition_scorecard_exp067.json</a:t>
            </a:r>
          </a:p>
          <a:p xmlns:a="http://schemas.openxmlformats.org/drawingml/2006/main">
            <a:r>
              <a:t>- HACKATHON_TASK_BRIEF.md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ee0d90505497e" /><Relationship Type="http://schemas.openxmlformats.org/officeDocument/2006/relationships/image" Target="/ppt/media/image2.png" Id="R1f3c14a311eb4f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48a7d144f4c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48b6c72f643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7a9e9950e44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dde5cef4b41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33f0ed6424a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4e7cf07de45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6757cb53041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d52cd2a7348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c121226db4d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577e2f11543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9ec60af09449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a547cdf8a4c0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69b3a8a754d9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28e047448452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aa0bb9b6f405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b85ab4d704be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644dc668147b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242367d1741f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c50652779423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4f4c25dcf4be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ef46501fb425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66c4555a64d3a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1f3c14a311eb4f7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33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b4284e738204d51" /><Relationship Type="http://schemas.openxmlformats.org/officeDocument/2006/relationships/theme" Target="/ppt/slideMasters/theme/theme2.xml" Id="Ra457e1dbf85c42cd" /><Relationship Type="http://schemas.openxmlformats.org/officeDocument/2006/relationships/slideLayout" Target="/ppt/slideLayouts/slideLayout1.xml" Id="Rddc6eb7f54ae4f35" /><Relationship Type="http://schemas.openxmlformats.org/officeDocument/2006/relationships/slideLayout" Target="/ppt/slideLayouts/slideLayout2.xml" Id="R44a048d494034230" /><Relationship Type="http://schemas.openxmlformats.org/officeDocument/2006/relationships/slideLayout" Target="/ppt/slideLayouts/slideLayout3.xml" Id="R1e5506144bbe49a2" /><Relationship Type="http://schemas.openxmlformats.org/officeDocument/2006/relationships/slideLayout" Target="/ppt/slideLayouts/slideLayout4.xml" Id="R49f1d1a8a82e4fef" /><Relationship Type="http://schemas.openxmlformats.org/officeDocument/2006/relationships/slideLayout" Target="/ppt/slideLayouts/slideLayout5.xml" Id="Rf129138199c242ed" /><Relationship Type="http://schemas.openxmlformats.org/officeDocument/2006/relationships/slideLayout" Target="/ppt/slideLayouts/slideLayout6.xml" Id="R02063dc94855480d" /><Relationship Type="http://schemas.openxmlformats.org/officeDocument/2006/relationships/slideLayout" Target="/ppt/slideLayouts/slideLayout7.xml" Id="Rf1be2c29ee9a4190" /><Relationship Type="http://schemas.openxmlformats.org/officeDocument/2006/relationships/slideLayout" Target="/ppt/slideLayouts/slideLayout8.xml" Id="R299ae86139a64b97" /><Relationship Type="http://schemas.openxmlformats.org/officeDocument/2006/relationships/slideLayout" Target="/ppt/slideLayouts/slideLayout9.xml" Id="Red3b9052e7ee4123" /><Relationship Type="http://schemas.openxmlformats.org/officeDocument/2006/relationships/slideLayout" Target="/ppt/slideLayouts/slideLayout10.xml" Id="R76f88867689746dc" /><Relationship Type="http://schemas.openxmlformats.org/officeDocument/2006/relationships/slideLayout" Target="/ppt/slideLayouts/slideLayout11.xml" Id="Rd76d67c918cd4540" /><Relationship Type="http://schemas.openxmlformats.org/officeDocument/2006/relationships/slideLayout" Target="/ppt/slideLayouts/slideLayout12.xml" Id="R4c924c16b0214176" /><Relationship Type="http://schemas.openxmlformats.org/officeDocument/2006/relationships/slideLayout" Target="/ppt/slideLayouts/slideLayout13.xml" Id="R734e7abf084d4bbb" /><Relationship Type="http://schemas.openxmlformats.org/officeDocument/2006/relationships/slideLayout" Target="/ppt/slideLayouts/slideLayout14.xml" Id="R7c0267edcd87473f" /><Relationship Type="http://schemas.openxmlformats.org/officeDocument/2006/relationships/slideLayout" Target="/ppt/slideLayouts/slideLayout15.xml" Id="Rdb31550a2dd349ae" /><Relationship Type="http://schemas.openxmlformats.org/officeDocument/2006/relationships/slideLayout" Target="/ppt/slideLayouts/slideLayout16.xml" Id="Ra748ff051ab648fb" /><Relationship Type="http://schemas.openxmlformats.org/officeDocument/2006/relationships/slideLayout" Target="/ppt/slideLayouts/slideLayout17.xml" Id="Rc190b1d763a6465b" /><Relationship Type="http://schemas.openxmlformats.org/officeDocument/2006/relationships/slideLayout" Target="/ppt/slideLayouts/slideLayout18.xml" Id="Re1e15db6c7f84fdf" /><Relationship Type="http://schemas.openxmlformats.org/officeDocument/2006/relationships/slideLayout" Target="/ppt/slideLayouts/slideLayout19.xml" Id="Rea8f0b8984b1419f" /><Relationship Type="http://schemas.openxmlformats.org/officeDocument/2006/relationships/slideLayout" Target="/ppt/slideLayouts/slideLayout20.xml" Id="R67aff46e8bbe4f64" /><Relationship Type="http://schemas.openxmlformats.org/officeDocument/2006/relationships/slideLayout" Target="/ppt/slideLayouts/slideLayout21.xml" Id="Rf7d4862899034837" /><Relationship Type="http://schemas.openxmlformats.org/officeDocument/2006/relationships/slideLayout" Target="/ppt/slideLayouts/slideLayout22.xml" Id="R536aa71275b44a20" /><Relationship Type="http://schemas.openxmlformats.org/officeDocument/2006/relationships/slideLayout" Target="/ppt/slideLayouts/slideLayout23.xml" Id="R6f373efe930b4ce8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4284e738204d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6eb7f54ae4f35"/>
    <p:sldLayoutId xmlns:r="http://schemas.openxmlformats.org/officeDocument/2006/relationships" id="2147483650" r:id="R44a048d494034230"/>
    <p:sldLayoutId xmlns:r="http://schemas.openxmlformats.org/officeDocument/2006/relationships" id="2147483651" r:id="R1e5506144bbe49a2"/>
    <p:sldLayoutId xmlns:r="http://schemas.openxmlformats.org/officeDocument/2006/relationships" id="2147483652" r:id="R49f1d1a8a82e4fef"/>
    <p:sldLayoutId xmlns:r="http://schemas.openxmlformats.org/officeDocument/2006/relationships" id="2147483653" r:id="Rf129138199c242ed"/>
    <p:sldLayoutId xmlns:r="http://schemas.openxmlformats.org/officeDocument/2006/relationships" id="2147483654" r:id="R02063dc94855480d"/>
    <p:sldLayoutId xmlns:r="http://schemas.openxmlformats.org/officeDocument/2006/relationships" id="2147483655" r:id="Rf1be2c29ee9a4190"/>
    <p:sldLayoutId xmlns:r="http://schemas.openxmlformats.org/officeDocument/2006/relationships" id="2147483656" r:id="R299ae86139a64b97"/>
    <p:sldLayoutId xmlns:r="http://schemas.openxmlformats.org/officeDocument/2006/relationships" id="2147483657" r:id="Red3b9052e7ee4123"/>
    <p:sldLayoutId xmlns:r="http://schemas.openxmlformats.org/officeDocument/2006/relationships" id="2147483658" r:id="R76f88867689746dc"/>
    <p:sldLayoutId xmlns:r="http://schemas.openxmlformats.org/officeDocument/2006/relationships" id="2147483659" r:id="Rd76d67c918cd4540"/>
    <p:sldLayoutId xmlns:r="http://schemas.openxmlformats.org/officeDocument/2006/relationships" id="2147483660" r:id="R4c924c16b0214176"/>
    <p:sldLayoutId xmlns:r="http://schemas.openxmlformats.org/officeDocument/2006/relationships" id="2147483661" r:id="R734e7abf084d4bbb"/>
    <p:sldLayoutId xmlns:r="http://schemas.openxmlformats.org/officeDocument/2006/relationships" id="2147483662" r:id="R7c0267edcd87473f"/>
    <p:sldLayoutId xmlns:r="http://schemas.openxmlformats.org/officeDocument/2006/relationships" id="2147483663" r:id="Rdb31550a2dd349ae"/>
    <p:sldLayoutId xmlns:r="http://schemas.openxmlformats.org/officeDocument/2006/relationships" id="2147483664" r:id="Ra748ff051ab648fb"/>
    <p:sldLayoutId xmlns:r="http://schemas.openxmlformats.org/officeDocument/2006/relationships" id="2147483665" r:id="Rc190b1d763a6465b"/>
    <p:sldLayoutId xmlns:r="http://schemas.openxmlformats.org/officeDocument/2006/relationships" id="2147483666" r:id="Re1e15db6c7f84fdf"/>
    <p:sldLayoutId xmlns:r="http://schemas.openxmlformats.org/officeDocument/2006/relationships" id="2147483667" r:id="Rea8f0b8984b1419f"/>
    <p:sldLayoutId xmlns:r="http://schemas.openxmlformats.org/officeDocument/2006/relationships" id="2147483668" r:id="R67aff46e8bbe4f64"/>
    <p:sldLayoutId xmlns:r="http://schemas.openxmlformats.org/officeDocument/2006/relationships" id="2147483669" r:id="Rf7d4862899034837"/>
    <p:sldLayoutId xmlns:r="http://schemas.openxmlformats.org/officeDocument/2006/relationships" id="2147483670" r:id="R536aa71275b44a20"/>
    <p:sldLayoutId xmlns:r="http://schemas.openxmlformats.org/officeDocument/2006/relationships" id="2147483671" r:id="R6f373efe930b4ce8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75ae37e446d4" /><Relationship Type="http://schemas.openxmlformats.org/officeDocument/2006/relationships/notesSlide" Target="/ppt/notesSlides/notesSlide1.xml" Id="R2d860ae2e16143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041f426974015" /><Relationship Type="http://schemas.openxmlformats.org/officeDocument/2006/relationships/image" Target="/ppt/media/image3.png" Id="R736ec9c4cca3441e" /><Relationship Type="http://schemas.openxmlformats.org/officeDocument/2006/relationships/image" Target="/ppt/media/image4.png" Id="R8d63cfbfb1ec441e" /><Relationship Type="http://schemas.openxmlformats.org/officeDocument/2006/relationships/notesSlide" Target="/ppt/notesSlides/notesSlide2.xml" Id="R33b25d682211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f4880c273349ea" /><Relationship Type="http://schemas.openxmlformats.org/officeDocument/2006/relationships/image" Target="/ppt/media/image.png" Id="R9c69f6c090dc4159" /><Relationship Type="http://schemas.openxmlformats.org/officeDocument/2006/relationships/image" Target="/ppt/media/image5.png" Id="R5de33d4a2c8b4544" /><Relationship Type="http://schemas.openxmlformats.org/officeDocument/2006/relationships/notesSlide" Target="/ppt/notesSlides/notesSlide3.xml" Id="R95563887c93a43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2b2388c7b24fb5" /><Relationship Type="http://schemas.openxmlformats.org/officeDocument/2006/relationships/image" Target="/ppt/media/image6.png" Id="Rc71d7d86bc634442" /><Relationship Type="http://schemas.openxmlformats.org/officeDocument/2006/relationships/notesSlide" Target="/ppt/notesSlides/notesSlide4.xml" Id="Rf147584ad5b84c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63c527626cf4e8a" /><Relationship Type="http://schemas.openxmlformats.org/officeDocument/2006/relationships/image" Target="/ppt/media/image.png" Id="R18e8020b63804c89" /><Relationship Type="http://schemas.openxmlformats.org/officeDocument/2006/relationships/notesSlide" Target="/ppt/notesSlides/notesSlide5.xml" Id="R20d99f6c80d443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9bde3b5d6444f85" /><Relationship Type="http://schemas.openxmlformats.org/officeDocument/2006/relationships/image" Target="/ppt/media/image6.png" Id="R38f25a16baf14d02" /><Relationship Type="http://schemas.openxmlformats.org/officeDocument/2006/relationships/notesSlide" Target="/ppt/notesSlides/notesSlide6.xml" Id="R7430a5ca8e6445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8d0a1a0c22f43c4" /><Relationship Type="http://schemas.openxmlformats.org/officeDocument/2006/relationships/image" Target="/ppt/media/image3.png" Id="R1710c206036e47b5" /><Relationship Type="http://schemas.openxmlformats.org/officeDocument/2006/relationships/notesSlide" Target="/ppt/notesSlides/notesSlide7.xml" Id="Ra70a7aac19da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46f679c0d324e26" /><Relationship Type="http://schemas.openxmlformats.org/officeDocument/2006/relationships/image" Target="/ppt/media/image3.png" Id="R2ad0473670d34f87" /><Relationship Type="http://schemas.openxmlformats.org/officeDocument/2006/relationships/notesSlide" Target="/ppt/notesSlides/notesSlide8.xml" Id="R431eaa5e45464c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4764ee557b546ff" /><Relationship Type="http://schemas.openxmlformats.org/officeDocument/2006/relationships/image" Target="/ppt/media/image6.png" Id="R5909db7a97a240ff" /><Relationship Type="http://schemas.openxmlformats.org/officeDocument/2006/relationships/notesSlide" Target="/ppt/notesSlides/notesSlide9.xml" Id="R2355077c030a4d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bf8543ff7604658" /><Relationship Type="http://schemas.openxmlformats.org/officeDocument/2006/relationships/image" Target="/ppt/media/image.png" Id="R485268d359a24c33" /><Relationship Type="http://schemas.openxmlformats.org/officeDocument/2006/relationships/notesSlide" Target="/ppt/notesSlides/notesSlide10.xml" Id="R86234479715145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085b59cc607444a5" /><Relationship Type="http://schemas.openxmlformats.org/officeDocument/2006/relationships/image" Target="/ppt/media/image3.png" Id="Rb3985a6df5d3452c" /><Relationship Type="http://schemas.openxmlformats.org/officeDocument/2006/relationships/image" Target="/ppt/media/image7.png" Id="Rc5d6d4edfa5c4890" /><Relationship Type="http://schemas.openxmlformats.org/officeDocument/2006/relationships/notesSlide" Target="/ppt/notesSlides/notesSlide11.xml" Id="R21e1baa315f74c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44cdd14a0624d41" /><Relationship Type="http://schemas.openxmlformats.org/officeDocument/2006/relationships/image" Target="/ppt/media/image6.png" Id="R786dcdf5973e4990" /><Relationship Type="http://schemas.openxmlformats.org/officeDocument/2006/relationships/notesSlide" Target="/ppt/notesSlides/notesSlide12.xml" Id="R6b2a1ae1aa994b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METROGUARD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LiDAR-контроль габарита без карты и дообучения · ROS 2 / CPU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6ec9c4cca3441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8d63cfbfb1ec441e"/>
          <a:srcRect xmlns:a="http://schemas.openxmlformats.org/drawingml/2006/main" l="0" t="9086" r="0" b="9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Мы не распознаём классы предметов. Геометрический контур замечает физическое вторжение, ансамбль деревьев отсекает элементы тоннеля, а при недостатке данных система не выдаёт ложное «путь свободен».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1C1D22"/>
                </a:solidFill>
              </a:defRPr>
            </a:pPr>
            <a:r>
              <a:rPr sz="1350" b="1">
                <a:solidFill>
                  <a:srgbClr val="1C1D22"/>
                </a:solidFill>
              </a:rPr>
              <a:t>Команда: ITMO GPT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1C1D22"/>
                </a:solidFill>
              </a:defRPr>
            </a:pPr>
            <a:r>
              <a:rPr sz="1350" b="1">
                <a:solidFill>
                  <a:srgbClr val="1C1D22"/>
                </a:solidFill>
              </a:rPr>
              <a:t>Участники: Кирпа Дмитрий · Юрий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1C1D22"/>
                </a:solidFill>
              </a:defRPr>
            </a:pPr>
            <a:r>
              <a:rPr sz="1350" b="1">
                <a:solidFill>
                  <a:srgbClr val="1C1D22"/>
                </a:solidFill>
              </a:rPr>
              <a:t>LiDAR · ML · робототехника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>
                <a:solidFill>
                  <a:srgbClr val="1C1D22"/>
                </a:solidFill>
              </a:defRPr>
            </a:pPr>
            <a:r>
              <a:rPr sz="1350" i="1">
                <a:solidFill>
                  <a:srgbClr val="1C1D22"/>
                </a:solidFill>
              </a:rPr>
              <a:t>69 экспериментов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>
                <a:solidFill>
                  <a:srgbClr val="1C1D22"/>
                </a:solidFill>
              </a:defRPr>
            </a:pPr>
            <a:r>
              <a:rPr sz="1350" i="1">
                <a:solidFill>
                  <a:srgbClr val="1C1D22"/>
                </a:solidFill>
              </a:rPr>
              <a:t>Контакт: github.com/KirpaDmitriy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520977"/>
                </a:solidFill>
              </a:defRPr>
            </a:pPr>
            <a:r>
              <a:rPr sz="2250" b="1">
                <a:solidFill>
                  <a:srgbClr val="520977"/>
                </a:solidFill>
              </a:rPr>
              <a:t>METROGUARD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2D262ED8-B967-46FD-A6F1-4786D1AD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3542D62D-15E5-4C5B-A412-C2E45B0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0AB98A7D-2EF1-4071-A267-694B3930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По рельсам восстанавливаем траекторию поезда и строим движущийся габарит 2,1 × 3,0 м. Любая связная группа точек внутри него становится кандидатом на препятствие.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69f6c090dc41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4762500" cy="48387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14900"/>
            <a:ext cx="4000500" cy="1190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975">
                <a:solidFill>
                  <a:srgbClr val="1C1D22"/>
                </a:solidFill>
              </a:defRPr>
            </a:pPr>
            <a:r>
              <a:rPr sz="975">
                <a:solidFill>
                  <a:srgbClr val="1C1D22"/>
                </a:solidFill>
              </a:rPr>
              <a:t>Эксперт по ML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975">
                <a:solidFill>
                  <a:srgbClr val="1C1D22"/>
                </a:solidFill>
              </a:defRPr>
            </a:pPr>
            <a:r>
              <a:rPr sz="975">
                <a:solidFill>
                  <a:srgbClr val="1C1D22"/>
                </a:solidFill>
              </a:rPr>
              <a:t>Эксперт по робототехнике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81500"/>
            <a:ext cx="4000500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275" b="1">
                <a:solidFill>
                  <a:srgbClr val="520977"/>
                </a:solidFill>
              </a:defRPr>
            </a:pPr>
            <a:r>
              <a:rPr sz="1275" b="1">
                <a:solidFill>
                  <a:srgbClr val="520977"/>
                </a:solidFill>
              </a:rPr>
              <a:t>Юрий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762500" cy="48387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КОМАНДА «ITMO GPT»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76300" y="4914900"/>
            <a:ext cx="4000500" cy="1190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975">
                <a:solidFill>
                  <a:srgbClr val="1C1D22"/>
                </a:solidFill>
              </a:defRPr>
            </a:pPr>
            <a:r>
              <a:rPr sz="975">
                <a:solidFill>
                  <a:srgbClr val="1C1D22"/>
                </a:solidFill>
              </a:rPr>
              <a:t>Капитан команды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75">
                <a:solidFill>
                  <a:srgbClr val="1C1D22"/>
                </a:solidFill>
              </a:defRPr>
            </a:pPr>
            <a:r>
              <a:rPr sz="975">
                <a:solidFill>
                  <a:srgbClr val="1C1D22"/>
                </a:solidFill>
              </a:rPr>
              <a:t>Архитектура решения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75">
                <a:solidFill>
                  <a:srgbClr val="1C1D22"/>
                </a:solidFill>
              </a:defRPr>
            </a:pPr>
            <a:r>
              <a:rPr sz="975">
                <a:solidFill>
                  <a:srgbClr val="1C1D22"/>
                </a:solidFill>
              </a:rPr>
              <a:t>Эксперименты и серверная часть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000500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275" b="1">
                <a:solidFill>
                  <a:srgbClr val="520977"/>
                </a:solidFill>
              </a:defRPr>
            </a:pPr>
            <a:r>
              <a:rPr sz="1275" b="1">
                <a:solidFill>
                  <a:srgbClr val="520977"/>
                </a:solidFill>
              </a:rPr>
              <a:t>Кирпа Дмитрий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3d4a2c8b4544"/>
          <a:stretch xmlns:a="http://schemas.openxmlformats.org/drawingml/2006/main"/>
        </p:blipFill>
        <p:spPr>
          <a:xfrm xmlns:a="http://schemas.openxmlformats.org/drawingml/2006/main">
            <a:off x="4095750" y="1619250"/>
            <a:ext cx="40005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1d7d86bc63444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ПОЧЕМУ МЫ ВЗЯЛИ ЭТУ ЗАДАЧУ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Здесь нельзя ограничиться красивым прототипом: пропуск препятствия опасен, а лишняя тревога останавливает поезд. При этом покадровой разметки почти нет.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Сложный физический домен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69 гипотез проверены одинаковым протоколом. Неудачные подходы не скрыты: для каждого сохранены код, метрики и причина отказа.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Критерий успеха — измеримое качество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Мы хотели проверить, сможет ли команда из двух человек с AI быстро исследовать незнакомую предметную область и довести решение до воспроизводимого прототипа.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Проверка AI-native команды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7865EF3E-213E-4301-80FF-7BA3518B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6C64AB33-E625-4B5E-AF59-851D879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CF6232F0-CE18-4B6E-B9BB-6369512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e8020b63804c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1D22"/>
                </a:solidFill>
              </a:defRPr>
            </a:pPr>
            <a:r>
              <a:rPr sz="1425">
                <a:solidFill>
                  <a:srgbClr val="1C1D22"/>
                </a:solidFill>
              </a:rPr>
              <a:t>1. Находим левый и правый рельс</a:t>
            </a:r>
          </a:p>
          <a:p xmlns:a="http://schemas.openxmlformats.org/drawingml/2006/main">
            <a:pPr>
              <a:buNone/>
              <a:defRPr sz="1425">
                <a:solidFill>
                  <a:srgbClr val="1C1D22"/>
                </a:solidFill>
              </a:defRPr>
            </a:pPr>
            <a:r>
              <a:rPr sz="1425">
                <a:solidFill>
                  <a:srgbClr val="1C1D22"/>
                </a:solidFill>
              </a:rPr>
              <a:t>2. По их центру и кривизне строим габарит поезда</a:t>
            </a:r>
          </a:p>
          <a:p xmlns:a="http://schemas.openxmlformats.org/drawingml/2006/main">
            <a:pPr>
              <a:buNone/>
              <a:defRPr sz="1425">
                <a:solidFill>
                  <a:srgbClr val="1C1D22"/>
                </a:solidFill>
              </a:defRPr>
            </a:pPr>
            <a:r>
              <a:rPr sz="1425">
                <a:solidFill>
                  <a:srgbClr val="1C1D22"/>
                </a:solidFill>
              </a:rPr>
              <a:t>3. Собираем точки внутри габарита в отдельные объекты</a:t>
            </a:r>
          </a:p>
          <a:p xmlns:a="http://schemas.openxmlformats.org/drawingml/2006/main">
            <a:pPr>
              <a:buNone/>
              <a:defRPr sz="1425">
                <a:solidFill>
                  <a:srgbClr val="1C1D22"/>
                </a:solidFill>
              </a:defRPr>
            </a:pPr>
            <a:r>
              <a:rPr sz="1425">
                <a:solidFill>
                  <a:srgbClr val="1C1D22"/>
                </a:solidFill>
              </a:rPr>
              <a:t>4. Ансамбль из 100 деревьев отличает препятствие от кабелей, стен и платформ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1D22"/>
                </a:solidFill>
              </a:defRPr>
            </a:pPr>
            <a:r>
              <a:rPr sz="1425">
                <a:solidFill>
                  <a:srgbClr val="1C1D22"/>
                </a:solidFill>
              </a:rPr>
              <a:t>Для каждого кадра: «путь свободен», «препятствие» или «недостаточно данных», расстояние до ближайшего объекта и объяснение решения. Карта тоннеля и список классов не нужны. Память знакомого маршрута доступна отдельно, если есть чистый эталонный проезд.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КАК РАБОТАЕТ METROGUARD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520977"/>
                </a:solidFill>
              </a:defRPr>
            </a:pPr>
            <a:r>
              <a:rPr sz="1650" b="1">
                <a:solidFill>
                  <a:srgbClr val="520977"/>
                </a:solidFill>
              </a:rPr>
              <a:t>Четыре шага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520977"/>
                </a:solidFill>
              </a:defRPr>
            </a:pPr>
            <a:r>
              <a:rPr sz="1650" b="1">
                <a:solidFill>
                  <a:srgbClr val="520977"/>
                </a:solidFill>
              </a:rPr>
              <a:t>Что получает система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f25a16baf14d0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Геометрический контур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Работает без обучения: всё, что физически входит в движущийся габарит, становится кандидатом. Это режим максимальной чувствительности.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Фильтр инфраструктуры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100 небольших деревьев оценивают форму, плотность и положение кандидата. Они снижают число тревог от стен, кабелей и платформ.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Память маршрута — опция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На знакомом участке можно сравнивать кадр с чистым эталонным проездом. В базовый режим память не входит: он работает и в новом тоннеле.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20977"/>
                </a:solidFill>
              </a:defRPr>
            </a:pPr>
            <a:r>
              <a:rPr sz="1650" b="1">
                <a:solidFill>
                  <a:srgbClr val="520977"/>
                </a:solidFill>
              </a:rPr>
              <a:t>КАК ПРИНИМАЕТСЯ РЕШЕНИЕ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10c206036e47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6 записей ROS 2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2 488 кадров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≈ 4 минуты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≈ 10 Гц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Pandar128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520977"/>
                </a:solidFill>
              </a:defRPr>
            </a:pPr>
            <a:r>
              <a:rPr sz="1950" b="1">
                <a:solidFill>
                  <a:srgbClr val="520977"/>
                </a:solidFill>
              </a:rPr>
              <a:t>Покадровой разметки нет. Официальный набор с добавленными объектами используется только как слабая пространственная подсказка.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ГАБАРИТ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2,1 × 3,0 м по ответам организаторов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МИНИМАЛЬНЫЙ ОБЪЕКТ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0,3 × 0,3 × 0,1 м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ДВИЖЕНИЕ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≈ 10 Гц; расчёт до 85 км/ч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РАЗБИЕНИЕ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целые записи; соседние кадры не смешиваются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ПРИОРИТЕТ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00" b="1">
                <a:solidFill>
                  <a:srgbClr val="520977"/>
                </a:solidFill>
              </a:defRPr>
            </a:pPr>
            <a:r>
              <a:rPr sz="1200" b="1">
                <a:solidFill>
                  <a:srgbClr val="520977"/>
                </a:solidFill>
              </a:rPr>
              <a:t>сначала ложные тревоги, затем полнота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ДАННЫЕ И ПРОТОКОЛ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d0473670d34f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Облако точек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форматы XYZI и XYZIRT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Путь по рельсам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центр, высота, кривизна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Кандидаты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компоненты внутри габарита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Проверка кандидатов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линейная модель и 100 деревьев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Решение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состояние, расстояние, задержка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8CEEC91B-79B9-4607-A433-0DBAF7E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299CE901-7462-4B53-94CE-98495BB5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D755E93C-F299-4044-B025-861AC82B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78C1ED30-F73A-4709-87A1-9EE1E808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E0A45622-06FA-40A4-8079-DDF78305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AA6308E0-AFA8-4E59-8759-6FE6BFF8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54311620-8D6C-451E-8DC8-0D0394A3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39958FC1-71E2-4491-9470-38F543E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B8DEE478-F9AF-4EC9-82D4-432B36E5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ОБРАБОТКА КАДРА: ОДИН ПРОХОД</a:t>
            </a:r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09db7a97a240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Геометрия: не пропустить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42424"/>
                </a:solidFill>
              </a:defRPr>
            </a:pPr>
            <a:r>
              <a:rPr sz="1275">
                <a:solidFill>
                  <a:srgbClr val="242424"/>
                </a:solidFill>
              </a:rPr>
              <a:t>Полнота 68,0% на точных синтетических объектах и 90,6% на незнакомых формах. Цена — много тревог от инфраструктуры.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Ансамбль: меньше тревог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42424"/>
                </a:solidFill>
              </a:defRPr>
            </a:pPr>
            <a:r>
              <a:rPr sz="1275">
                <a:solidFill>
                  <a:srgbClr val="242424"/>
                </a:solidFill>
              </a:rPr>
              <a:t>1,44% тревожных кадров на полных контрольных проездах и 100% специфичности на точных синтетических параллелепипедах. Это режим по умолчанию.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Память знакомого маршрута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42424"/>
                </a:solidFill>
              </a:defRPr>
            </a:pPr>
            <a:r>
              <a:rPr sz="1275">
                <a:solidFill>
                  <a:srgbClr val="242424"/>
                </a:solidFill>
              </a:rPr>
              <a:t>Если есть чистый эталон той же позиции: 87,7% полноты и 100% специфичности на 376 парах. Это отдельный режим, а не скрытая зависимость.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20977"/>
                </a:solidFill>
              </a:defRPr>
            </a:pPr>
            <a:r>
              <a:rPr sz="1650" b="1">
                <a:solidFill>
                  <a:srgbClr val="520977"/>
                </a:solidFill>
              </a:rPr>
              <a:t>ТРИ РЕЖИМА ДЛЯ РАЗНЫХ УСЛОВИЙ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5268d359a24c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ПРОВЕРЯЕМ ГРАНИЦЫ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Объект 0,3 × 0,3 × 0,1 м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20 / 40 / 60 / 80 м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внутри, снаружи и выше габарита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СОХРАНЯЕМ ЛУЧИ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Берём направления реальных лучей. 3d-объект заменяет только более дальний возврат от тоннеля.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НЕ ВЫДАЁМ ПОДСКАЗКУ ЗА РАЗМЕТКУ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425" b="1">
                <a:solidFill>
                  <a:srgbClr val="1C1D22"/>
                </a:solidFill>
              </a:defRPr>
            </a:pPr>
            <a:r>
              <a:rPr sz="1425" b="1">
                <a:solidFill>
                  <a:srgbClr val="1C1D22"/>
                </a:solidFill>
              </a:rPr>
              <a:t>Кадр с 0–2 лучами не оценивается. Официальные интервалы без масок остаются только слабой разметкой.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311" name="Google Shape;2799;p94"/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КАК МЫ СОЗДАЁМ СИНТЕТИКУ</a:t>
            </a:r>
            <a:endParaRPr/>
          </a:p>
        </p:txBody>
      </p:sp>
      <p:cxnSp>
        <p:nvCxnSpPr>
          <p:cNvPr id="348" name="Google Shape;2799;p94"/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985a6df5d345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Скругленный 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6d4edfa5c4890"/>
          <a:stretch xmlns:a="http://schemas.openxmlformats.org/drawingml/2006/main"/>
        </p:blipFill>
        <p:spPr>
          <a:xfrm xmlns:a="http://schemas.openxmlformats.org/drawingml/2006/main">
            <a:off x="2861733" y="1000125"/>
            <a:ext cx="6468533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РЕАЛЬНОЕ ОБЛАКО ТОЧЕК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3 синхронных ракурса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3 ГОТОВЫХ СЦЕНАРИЯ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можно без загрузки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ГАБАРИТ И КОМПОНЕНТЫ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350" b="1">
                <a:solidFill>
                  <a:srgbClr val="520977"/>
                </a:solidFill>
              </a:defRPr>
            </a:pPr>
            <a:r>
              <a:rPr sz="1350" b="1">
                <a:solidFill>
                  <a:srgbClr val="520977"/>
                </a:solidFill>
              </a:rPr>
              <a:t>режимы · таймлайн · объяснение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ДЕМО: РЕШЕНИЕ В ДЕТАЛЯХ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6dcdf5973e49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solidFill>
                  <a:schemeClr val="accent5"/>
                </a:solidFill>
              </a:rPr>
              <a:t>12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Работающий прототип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Контейнер, узел ROS 2, веб-демо с готовыми сценариями, 79 тестов и журнал 69 экспериментов. Обучение при проверке не запускается.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Известные ограничения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Покадровой разметки нет. Ансамбль снижает лишние тревоги, но хуже переносится на неизвестные формы; геометрия остаётся режимом высокой чувствительности.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20977"/>
                </a:solidFill>
              </a:defRPr>
            </a:pPr>
            <a:r>
              <a:rPr sz="1575" b="1">
                <a:solidFill>
                  <a:srgbClr val="520977"/>
                </a:solidFill>
              </a:rPr>
              <a:t>Путь в пилот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Нужны точная калибровка положения лидара, контур конкретного состава и размеченные реальные препятствия. На знакомых участках можно подключить память маршрута.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20977"/>
                </a:solidFill>
              </a:defRPr>
            </a:pPr>
            <a:r>
              <a:rPr sz="1650" b="1">
                <a:solidFill>
                  <a:srgbClr val="520977"/>
                </a:solidFill>
              </a:rPr>
              <a:t>ЧТО УЖЕ РАБОТАЕТ — И ЧТО НУЖНО ДЛЯ ПИЛОТА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0053"/>
                </a:solidFill>
              </a:defRPr>
            </a:pPr>
            <a:r>
              <a:rPr sz="2400" b="1">
                <a:solidFill>
                  <a:srgbClr val="FF0053"/>
                </a:solidFill>
              </a:rP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2026-09-29T16:06:22.1770000Z</dcterms:created>
  <dcterms:modified xsi:type="dcterms:W3CDTF">2026-09-29T16:06:22.1770000Z</dcterms:modified>
</coreProperties>
</file>