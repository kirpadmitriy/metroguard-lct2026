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282800f1df48ad" /><Relationship Type="http://schemas.openxmlformats.org/officeDocument/2006/relationships/extended-properties" Target="/docProps/app.xml" Id="R5cb169f195154918" /><Relationship Type="http://schemas.openxmlformats.org/officeDocument/2006/relationships/officeDocument" Target="/ppt/presentation.xml" Id="Rbb8292456009463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f6634d32704fd1"/>
  </p:sldMasterIdLst>
  <p:notesMasterIdLst>
    <p:notesMasterId xmlns:r="http://schemas.openxmlformats.org/officeDocument/2006/relationships" r:id="R178742883da74b26"/>
  </p:notesMasterIdLst>
  <p:sldIdLst>
    <p:sldId xmlns:r="http://schemas.openxmlformats.org/officeDocument/2006/relationships" id="256" r:id="R263b3c2a61bf47af"/>
    <p:sldId xmlns:r="http://schemas.openxmlformats.org/officeDocument/2006/relationships" id="257" r:id="Rc47142d4091d486d"/>
    <p:sldId xmlns:r="http://schemas.openxmlformats.org/officeDocument/2006/relationships" id="258" r:id="R47e11849ac50419c"/>
    <p:sldId xmlns:r="http://schemas.openxmlformats.org/officeDocument/2006/relationships" id="259" r:id="Rf0915ba70e904eef"/>
    <p:sldId xmlns:r="http://schemas.openxmlformats.org/officeDocument/2006/relationships" id="260" r:id="R2bbefa7fd7ed4599"/>
    <p:sldId xmlns:r="http://schemas.openxmlformats.org/officeDocument/2006/relationships" id="261" r:id="R16c7f79001234063"/>
    <p:sldId xmlns:r="http://schemas.openxmlformats.org/officeDocument/2006/relationships" id="262" r:id="R6972ddd8538a412f"/>
    <p:sldId xmlns:r="http://schemas.openxmlformats.org/officeDocument/2006/relationships" id="263" r:id="R822e3af2228940f5"/>
    <p:sldId xmlns:r="http://schemas.openxmlformats.org/officeDocument/2006/relationships" id="264" r:id="Rb25bf229bb26477c"/>
    <p:sldId xmlns:r="http://schemas.openxmlformats.org/officeDocument/2006/relationships" id="265" r:id="Rf143c27e122c49b3"/>
    <p:sldId xmlns:r="http://schemas.openxmlformats.org/officeDocument/2006/relationships" id="266" r:id="R2676d471d90d4d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f7828c40d54b47" /><Relationship Type="http://schemas.openxmlformats.org/officeDocument/2006/relationships/slideMaster" Target="/ppt/slideMasters/slideMaster1.xml" Id="R29f6634d32704fd1" /><Relationship Type="http://schemas.openxmlformats.org/officeDocument/2006/relationships/notesMaster" Target="/ppt/notesMasters/notesMaster1.xml" Id="R178742883da74b26" /><Relationship Type="http://schemas.openxmlformats.org/officeDocument/2006/relationships/presProps" Target="/ppt/presProps.xml" Id="Ra9ce4c05c99449f2" /><Relationship Type="http://schemas.openxmlformats.org/officeDocument/2006/relationships/viewProps" Target="/ppt/viewProps.xml" Id="Re5533250a48545dd" /><Relationship Type="http://schemas.openxmlformats.org/officeDocument/2006/relationships/tableStyles" Target="/ppt/tableStyles.xml" Id="R9f76eabf6ed943b5" /><Relationship Type="http://schemas.openxmlformats.org/officeDocument/2006/relationships/slide" Target="/ppt/slides/slide1.xml" Id="R263b3c2a61bf47af" /><Relationship Type="http://schemas.openxmlformats.org/officeDocument/2006/relationships/slide" Target="/ppt/slides/slide2.xml" Id="Rc47142d4091d486d" /><Relationship Type="http://schemas.openxmlformats.org/officeDocument/2006/relationships/slide" Target="/ppt/slides/slide3.xml" Id="R47e11849ac50419c" /><Relationship Type="http://schemas.openxmlformats.org/officeDocument/2006/relationships/slide" Target="/ppt/slides/slide4.xml" Id="Rf0915ba70e904eef" /><Relationship Type="http://schemas.openxmlformats.org/officeDocument/2006/relationships/slide" Target="/ppt/slides/slide5.xml" Id="R2bbefa7fd7ed4599" /><Relationship Type="http://schemas.openxmlformats.org/officeDocument/2006/relationships/slide" Target="/ppt/slides/slide6.xml" Id="R16c7f79001234063" /><Relationship Type="http://schemas.openxmlformats.org/officeDocument/2006/relationships/slide" Target="/ppt/slides/slide7.xml" Id="R6972ddd8538a412f" /><Relationship Type="http://schemas.openxmlformats.org/officeDocument/2006/relationships/slide" Target="/ppt/slides/slide8.xml" Id="R822e3af2228940f5" /><Relationship Type="http://schemas.openxmlformats.org/officeDocument/2006/relationships/slide" Target="/ppt/slides/slide9.xml" Id="Rb25bf229bb26477c" /><Relationship Type="http://schemas.openxmlformats.org/officeDocument/2006/relationships/slide" Target="/ppt/slides/slide10.xml" Id="Rf143c27e122c49b3" /><Relationship Type="http://schemas.openxmlformats.org/officeDocument/2006/relationships/slide" Target="/ppt/slides/slide11.xml" Id="R2676d471d90d4d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092e39d22e46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0998c5225a7490c" /><Relationship Type="http://schemas.openxmlformats.org/officeDocument/2006/relationships/notesMaster" Target="/ppt/notesMasters/notesMaster1.xml" Id="R71c2a1e36a4447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c0824fc79d47f7" /><Relationship Type="http://schemas.openxmlformats.org/officeDocument/2006/relationships/notesMaster" Target="/ppt/notesMasters/notesMaster1.xml" Id="Rb551edefffc14f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de217c19f8448d" /><Relationship Type="http://schemas.openxmlformats.org/officeDocument/2006/relationships/notesMaster" Target="/ppt/notesMasters/notesMaster1.xml" Id="R4cce456e383c49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abbf30d8624531" /><Relationship Type="http://schemas.openxmlformats.org/officeDocument/2006/relationships/notesMaster" Target="/ppt/notesMasters/notesMaster1.xml" Id="R6e8ce454c47c4da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ae1edfd04f44b02" /><Relationship Type="http://schemas.openxmlformats.org/officeDocument/2006/relationships/notesMaster" Target="/ppt/notesMasters/notesMaster1.xml" Id="R6d8b09b826c142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54cb2898ee4e46" /><Relationship Type="http://schemas.openxmlformats.org/officeDocument/2006/relationships/notesMaster" Target="/ppt/notesMasters/notesMaster1.xml" Id="Rea9214f371b54b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d081a65c0f4e2c" /><Relationship Type="http://schemas.openxmlformats.org/officeDocument/2006/relationships/notesMaster" Target="/ppt/notesMasters/notesMaster1.xml" Id="Ra989ce79586748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5a13224cdc44ac" /><Relationship Type="http://schemas.openxmlformats.org/officeDocument/2006/relationships/notesMaster" Target="/ppt/notesMasters/notesMaster1.xml" Id="R98578ac129dd462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eae3677baca4014" /><Relationship Type="http://schemas.openxmlformats.org/officeDocument/2006/relationships/notesMaster" Target="/ppt/notesMasters/notesMaster1.xml" Id="R42ad520c9eef4d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1fe782728e34562" /><Relationship Type="http://schemas.openxmlformats.org/officeDocument/2006/relationships/notesMaster" Target="/ppt/notesMasters/notesMaster1.xml" Id="Rbf52150954744f6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940188a96404afa" /><Relationship Type="http://schemas.openxmlformats.org/officeDocument/2006/relationships/notesMaster" Target="/ppt/notesMasters/notesMaster1.xml" Id="R3591ded4fc9245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naming and runtime contract: release/metroguard-lct2026/README.md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release/metroguard-lct2026/README.md</a:t>
            </a:r>
          </a:p>
          <a:p xmlns:a="http://schemas.openxmlformats.org/drawingml/2006/main">
            <a:r>
              <a:t>- release/metroguard-lct2026/experiments/registry.json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Team name and roster confirmed by the team owner: ITMO GPT; Кирпа Дмитрий and Кирпа Юрий.</a:t>
            </a:r>
            <a:endParaRPr/>
          </a:p>
          <a:p xmlns:a="http://schemas.openxmlformats.org/drawingml/2006/main">
            <a:r>
              <a:t>- Team mark generated specifically for this deck with OpenAI image generation; no external brand asset used.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release/metroguard-lct2026/experiments/registry.json (69 experiments)</a:t>
            </a:r>
            <a:endParaRPr/>
          </a:p>
          <a:p xmlns:a="http://schemas.openxmlformats.org/drawingml/2006/main">
            <a:r>
              <a:t>- HACKATHON_TASK_BRIEF.md (false-positive priority and missing frame labels)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release/metroguard-lct2026/lidar_geometry/artifacts/linear_extra_trees_hybrid.npz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HACKATHON_TASK_BRIEF.md</a:t>
            </a:r>
          </a:p>
          <a:p xmlns:a="http://schemas.openxmlformats.org/drawingml/2006/main">
            <a:r>
              <a:t>- lidar_geometry/QNA_NOTES.md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release/metroguard-lct2026/lidar_geometry/fast_detector.py</a:t>
            </a:r>
          </a:p>
          <a:p xmlns:a="http://schemas.openxmlformats.org/drawingml/2006/main">
            <a:r>
              <a:t>- release/metroguard-lct2026/lidar_geometry/portable_trees.py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release/metroguard-lct2026/experiments/registry.json (EXP-067)</a:t>
            </a:r>
          </a:p>
          <a:p xmlns:a="http://schemas.openxmlformats.org/drawingml/2006/main">
            <a:r>
              <a:t>- 79 tests = 64 lidar_geometry + 15 demo_app tests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release/metroguard-lct2026/lidar_geometry/synthetic.py</a:t>
            </a:r>
          </a:p>
          <a:p xmlns:a="http://schemas.openxmlformats.org/drawingml/2006/main">
            <a:r>
              <a:t>- release/metroguard-lct2026/lidar_geometry/artifacts/scenario_benchmark.json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demo: https://93-77-179-211.nip.io</a:t>
            </a:r>
          </a:p>
          <a:p xmlns:a="http://schemas.openxmlformats.org/drawingml/2006/main">
            <a:r>
              <a:t>- release/metroguard-lct2026/demo_app/</a:t>
            </a:r>
          </a:p>
          <a:p xmlns:a="http://schemas.openxmlformats.org/drawingml/2006/main">
            <a:r>
              <a:t>- Screenshot uses a real organizer recording; it is qualitative evidence, not ground truth.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7ea178c5354420" /><Relationship Type="http://schemas.openxmlformats.org/officeDocument/2006/relationships/image" Target="/ppt/media/image2.png" Id="Reac2382abecd4af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1d40e4462f415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ddcadfd917432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7e15cf0c0d408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1cbedf9d554de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68d64d1d954d4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7144b3bd8748e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31680e8a544b7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256c9c06d449f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1752148fd9470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4365b5ad104657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732df0874143d6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c14231c9134fa6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bd378c5cfe456c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7c3fa36b18401b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a094f9ba4d4d96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a700db736e4b22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8bd82698b04e40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54d41dbba948be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f1f2e55201440b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f045fac4964403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ef2f104752426c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a4e44305144174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eac2382abecd4af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233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3c3d31e349204bb5" /><Relationship Type="http://schemas.openxmlformats.org/officeDocument/2006/relationships/theme" Target="/ppt/slideMasters/theme/theme2.xml" Id="R4202468858724ae3" /><Relationship Type="http://schemas.openxmlformats.org/officeDocument/2006/relationships/slideLayout" Target="/ppt/slideLayouts/slideLayout1.xml" Id="Rc0cf1aa911254c52" /><Relationship Type="http://schemas.openxmlformats.org/officeDocument/2006/relationships/slideLayout" Target="/ppt/slideLayouts/slideLayout2.xml" Id="R6f94e825b6364841" /><Relationship Type="http://schemas.openxmlformats.org/officeDocument/2006/relationships/slideLayout" Target="/ppt/slideLayouts/slideLayout3.xml" Id="Rd488c9e17baf4911" /><Relationship Type="http://schemas.openxmlformats.org/officeDocument/2006/relationships/slideLayout" Target="/ppt/slideLayouts/slideLayout4.xml" Id="R22bfcc08375f4a2b" /><Relationship Type="http://schemas.openxmlformats.org/officeDocument/2006/relationships/slideLayout" Target="/ppt/slideLayouts/slideLayout5.xml" Id="R632777b4df724073" /><Relationship Type="http://schemas.openxmlformats.org/officeDocument/2006/relationships/slideLayout" Target="/ppt/slideLayouts/slideLayout6.xml" Id="R413fba5aa92a4c60" /><Relationship Type="http://schemas.openxmlformats.org/officeDocument/2006/relationships/slideLayout" Target="/ppt/slideLayouts/slideLayout7.xml" Id="Rc0bf3d48396447f9" /><Relationship Type="http://schemas.openxmlformats.org/officeDocument/2006/relationships/slideLayout" Target="/ppt/slideLayouts/slideLayout8.xml" Id="Rdff527ce53794d5d" /><Relationship Type="http://schemas.openxmlformats.org/officeDocument/2006/relationships/slideLayout" Target="/ppt/slideLayouts/slideLayout9.xml" Id="Rc3eec73aa87b499f" /><Relationship Type="http://schemas.openxmlformats.org/officeDocument/2006/relationships/slideLayout" Target="/ppt/slideLayouts/slideLayout10.xml" Id="Rae1b913f65d2489b" /><Relationship Type="http://schemas.openxmlformats.org/officeDocument/2006/relationships/slideLayout" Target="/ppt/slideLayouts/slideLayout11.xml" Id="R99ae5ff990f54240" /><Relationship Type="http://schemas.openxmlformats.org/officeDocument/2006/relationships/slideLayout" Target="/ppt/slideLayouts/slideLayout12.xml" Id="Rb2ebcf3da3074ee7" /><Relationship Type="http://schemas.openxmlformats.org/officeDocument/2006/relationships/slideLayout" Target="/ppt/slideLayouts/slideLayout13.xml" Id="R99ffffc670cf4130" /><Relationship Type="http://schemas.openxmlformats.org/officeDocument/2006/relationships/slideLayout" Target="/ppt/slideLayouts/slideLayout14.xml" Id="R8d719e80ac974082" /><Relationship Type="http://schemas.openxmlformats.org/officeDocument/2006/relationships/slideLayout" Target="/ppt/slideLayouts/slideLayout15.xml" Id="R33b4cda623f743c8" /><Relationship Type="http://schemas.openxmlformats.org/officeDocument/2006/relationships/slideLayout" Target="/ppt/slideLayouts/slideLayout16.xml" Id="R94a7de8ac9fc4566" /><Relationship Type="http://schemas.openxmlformats.org/officeDocument/2006/relationships/slideLayout" Target="/ppt/slideLayouts/slideLayout17.xml" Id="R9acb2f29919446f0" /><Relationship Type="http://schemas.openxmlformats.org/officeDocument/2006/relationships/slideLayout" Target="/ppt/slideLayouts/slideLayout18.xml" Id="R138d26fe9fe14569" /><Relationship Type="http://schemas.openxmlformats.org/officeDocument/2006/relationships/slideLayout" Target="/ppt/slideLayouts/slideLayout19.xml" Id="Rced08570c6d14a13" /><Relationship Type="http://schemas.openxmlformats.org/officeDocument/2006/relationships/slideLayout" Target="/ppt/slideLayouts/slideLayout20.xml" Id="Rdb9de053518c4541" /><Relationship Type="http://schemas.openxmlformats.org/officeDocument/2006/relationships/slideLayout" Target="/ppt/slideLayouts/slideLayout21.xml" Id="R77a2bed035694388" /><Relationship Type="http://schemas.openxmlformats.org/officeDocument/2006/relationships/slideLayout" Target="/ppt/slideLayouts/slideLayout22.xml" Id="R8e6a2ed0ee91452d" /><Relationship Type="http://schemas.openxmlformats.org/officeDocument/2006/relationships/slideLayout" Target="/ppt/slideLayouts/slideLayout23.xml" Id="R19c6899e30d34fb7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c3d31e349204bb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cf1aa911254c52"/>
    <p:sldLayoutId xmlns:r="http://schemas.openxmlformats.org/officeDocument/2006/relationships" id="2147483650" r:id="R6f94e825b6364841"/>
    <p:sldLayoutId xmlns:r="http://schemas.openxmlformats.org/officeDocument/2006/relationships" id="2147483651" r:id="Rd488c9e17baf4911"/>
    <p:sldLayoutId xmlns:r="http://schemas.openxmlformats.org/officeDocument/2006/relationships" id="2147483652" r:id="R22bfcc08375f4a2b"/>
    <p:sldLayoutId xmlns:r="http://schemas.openxmlformats.org/officeDocument/2006/relationships" id="2147483653" r:id="R632777b4df724073"/>
    <p:sldLayoutId xmlns:r="http://schemas.openxmlformats.org/officeDocument/2006/relationships" id="2147483654" r:id="R413fba5aa92a4c60"/>
    <p:sldLayoutId xmlns:r="http://schemas.openxmlformats.org/officeDocument/2006/relationships" id="2147483655" r:id="Rc0bf3d48396447f9"/>
    <p:sldLayoutId xmlns:r="http://schemas.openxmlformats.org/officeDocument/2006/relationships" id="2147483656" r:id="Rdff527ce53794d5d"/>
    <p:sldLayoutId xmlns:r="http://schemas.openxmlformats.org/officeDocument/2006/relationships" id="2147483657" r:id="Rc3eec73aa87b499f"/>
    <p:sldLayoutId xmlns:r="http://schemas.openxmlformats.org/officeDocument/2006/relationships" id="2147483658" r:id="Rae1b913f65d2489b"/>
    <p:sldLayoutId xmlns:r="http://schemas.openxmlformats.org/officeDocument/2006/relationships" id="2147483659" r:id="R99ae5ff990f54240"/>
    <p:sldLayoutId xmlns:r="http://schemas.openxmlformats.org/officeDocument/2006/relationships" id="2147483660" r:id="Rb2ebcf3da3074ee7"/>
    <p:sldLayoutId xmlns:r="http://schemas.openxmlformats.org/officeDocument/2006/relationships" id="2147483661" r:id="R99ffffc670cf4130"/>
    <p:sldLayoutId xmlns:r="http://schemas.openxmlformats.org/officeDocument/2006/relationships" id="2147483662" r:id="R8d719e80ac974082"/>
    <p:sldLayoutId xmlns:r="http://schemas.openxmlformats.org/officeDocument/2006/relationships" id="2147483663" r:id="R33b4cda623f743c8"/>
    <p:sldLayoutId xmlns:r="http://schemas.openxmlformats.org/officeDocument/2006/relationships" id="2147483664" r:id="R94a7de8ac9fc4566"/>
    <p:sldLayoutId xmlns:r="http://schemas.openxmlformats.org/officeDocument/2006/relationships" id="2147483665" r:id="R9acb2f29919446f0"/>
    <p:sldLayoutId xmlns:r="http://schemas.openxmlformats.org/officeDocument/2006/relationships" id="2147483666" r:id="R138d26fe9fe14569"/>
    <p:sldLayoutId xmlns:r="http://schemas.openxmlformats.org/officeDocument/2006/relationships" id="2147483667" r:id="Rced08570c6d14a13"/>
    <p:sldLayoutId xmlns:r="http://schemas.openxmlformats.org/officeDocument/2006/relationships" id="2147483668" r:id="Rdb9de053518c4541"/>
    <p:sldLayoutId xmlns:r="http://schemas.openxmlformats.org/officeDocument/2006/relationships" id="2147483669" r:id="R77a2bed035694388"/>
    <p:sldLayoutId xmlns:r="http://schemas.openxmlformats.org/officeDocument/2006/relationships" id="2147483670" r:id="R8e6a2ed0ee91452d"/>
    <p:sldLayoutId xmlns:r="http://schemas.openxmlformats.org/officeDocument/2006/relationships" id="2147483671" r:id="R19c6899e30d34fb7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ec2aa7400e419f" /><Relationship Type="http://schemas.openxmlformats.org/officeDocument/2006/relationships/notesSlide" Target="/ppt/notesSlides/notesSlide1.xml" Id="Rd011b4ce2d1541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e9bc17a4a74dc5" /><Relationship Type="http://schemas.openxmlformats.org/officeDocument/2006/relationships/image" Target="/ppt/media/image3.png" Id="Rb8e5de2626df4770" /><Relationship Type="http://schemas.openxmlformats.org/officeDocument/2006/relationships/image" Target="/ppt/media/image4.png" Id="Rae12af7b41b14889" /><Relationship Type="http://schemas.openxmlformats.org/officeDocument/2006/relationships/notesSlide" Target="/ppt/notesSlides/notesSlide2.xml" Id="Rf906a73493bd46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2961172ddfd4223" /><Relationship Type="http://schemas.openxmlformats.org/officeDocument/2006/relationships/image" Target="/ppt/media/image.png" Id="R8d15c3d84bc147c0" /><Relationship Type="http://schemas.openxmlformats.org/officeDocument/2006/relationships/image" Target="/ppt/media/image5.png" Id="R33180a5b75644468" /><Relationship Type="http://schemas.openxmlformats.org/officeDocument/2006/relationships/notesSlide" Target="/ppt/notesSlides/notesSlide3.xml" Id="R493eaa0b16a141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f79f34e6b3541c1" /><Relationship Type="http://schemas.openxmlformats.org/officeDocument/2006/relationships/image" Target="/ppt/media/image6.png" Id="R2be90b9fd2f649c9" /><Relationship Type="http://schemas.openxmlformats.org/officeDocument/2006/relationships/notesSlide" Target="/ppt/notesSlides/notesSlide4.xml" Id="Rdd205e819d0944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1e5bab5338554f27" /><Relationship Type="http://schemas.openxmlformats.org/officeDocument/2006/relationships/image" Target="/ppt/media/image.png" Id="Rd86013e54dda4882" /><Relationship Type="http://schemas.openxmlformats.org/officeDocument/2006/relationships/notesSlide" Target="/ppt/notesSlides/notesSlide5.xml" Id="R0236b842138842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6ad3a6075ed4fad" /><Relationship Type="http://schemas.openxmlformats.org/officeDocument/2006/relationships/image" Target="/ppt/media/image6.png" Id="R059f6c030e5c4304" /><Relationship Type="http://schemas.openxmlformats.org/officeDocument/2006/relationships/notesSlide" Target="/ppt/notesSlides/notesSlide6.xml" Id="R1f648d4450c441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21464f4a938d4072" /><Relationship Type="http://schemas.openxmlformats.org/officeDocument/2006/relationships/image" Target="/ppt/media/image3.png" Id="R3538b573d6234cb2" /><Relationship Type="http://schemas.openxmlformats.org/officeDocument/2006/relationships/notesSlide" Target="/ppt/notesSlides/notesSlide7.xml" Id="R1a23794918cb44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f9ae394d890e4528" /><Relationship Type="http://schemas.openxmlformats.org/officeDocument/2006/relationships/image" Target="/ppt/media/image3.png" Id="R5ebb5936b2d040a7" /><Relationship Type="http://schemas.openxmlformats.org/officeDocument/2006/relationships/notesSlide" Target="/ppt/notesSlides/notesSlide8.xml" Id="Rc012b6ca7b934b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27ad8c81da72469b" /><Relationship Type="http://schemas.openxmlformats.org/officeDocument/2006/relationships/image" Target="/ppt/media/image6.png" Id="Reb0a82db2b10428c" /><Relationship Type="http://schemas.openxmlformats.org/officeDocument/2006/relationships/notesSlide" Target="/ppt/notesSlides/notesSlide9.xml" Id="R4f373e47b33348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07f2bdd6b8394691" /><Relationship Type="http://schemas.openxmlformats.org/officeDocument/2006/relationships/image" Target="/ppt/media/image.png" Id="Rcc17face9bd44b70" /><Relationship Type="http://schemas.openxmlformats.org/officeDocument/2006/relationships/notesSlide" Target="/ppt/notesSlides/notesSlide10.xml" Id="Raa791fdf7e6549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d4bd6fb6af474b12" /><Relationship Type="http://schemas.openxmlformats.org/officeDocument/2006/relationships/image" Target="/ppt/media/image3.png" Id="R2df88c1401544e9c" /><Relationship Type="http://schemas.openxmlformats.org/officeDocument/2006/relationships/image" Target="/ppt/media/image7.png" Id="R55f9c7dafe9543a6" /><Relationship Type="http://schemas.openxmlformats.org/officeDocument/2006/relationships/notesSlide" Target="/ppt/notesSlides/notesSlide11.xml" Id="R8c0e5be65e0e4ff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METROGUARD</a:t>
            </a:r>
            <a:endParaRPr sz="4800"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LiDAR-контроль габарита без карты и дообучения</a:t>
            </a:r>
            <a:endParaRPr/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8e5de2626df477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3" name="Рисунок 1"/>
          <p:cNvPicPr>
            <a:picLocks xmlns:a="http://schemas.openxmlformats.org/drawingml/2006/main" noChangeAspect="1"/>
          </p:cNvPicPr>
          <p:nvPr>
            <p:ph type="pic" idx="10"/>
          </p:nvPr>
        </p:nvPicPr>
        <p:blipFill>
          <a:blip xmlns:r="http://schemas.openxmlformats.org/officeDocument/2006/relationships" xmlns:a="http://schemas.openxmlformats.org/drawingml/2006/main" r:embed="Rae12af7b41b14889"/>
          <a:srcRect xmlns:a="http://schemas.openxmlformats.org/drawingml/2006/main" l="0" t="9086" r="0" b="90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5267"/>
            <a:ext cx="6456363" cy="2971784"/>
          </a:xfrm>
          <a:prstGeom xmlns:a="http://schemas.openxmlformats.org/drawingml/2006/main" prst="rect">
            <a:avLst/>
          </a:prstGeom>
        </p:spPr>
      </p:pic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Что сделали: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Геометрический контур фиксирует вторжение в габарит. Ансамбль деревьев оценивает форму, плотность и положение объекта и отсекает элементы тоннеля. На выходе — состояние пути и расстояние до ближайшего препятствия.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Результат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520977"/>
                </a:solidFill>
              </a:defRPr>
            </a:pPr>
            <a:r>
              <a:rPr sz="2250" b="1">
                <a:solidFill>
                  <a:srgbClr val="520977"/>
                </a:solidFill>
              </a:rPr>
              <a:t>METROGUARD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2D262ED8-B967-46FD-A6F1-4786D1AD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3542D62D-15E5-4C5B-A412-C2E45B0B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0AB98A7D-2EF1-4071-A267-694B393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Как принимается решение: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По рельсам восстанавливаем траекторию поезда и строим движущийся габарит 2,1 × 3,0 м. Любая связная группа точек внутри него становится кандидатом на препятствие.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8</a:t>
            </a:fld>
            <a:endParaRPr sz="1200">
              <a:solidFill>
                <a:schemeClr val="accent5"/>
              </a:solidFill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3DA78F-8731-4EF6-8E17-D87F2FD0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43350"/>
            <a:ext cx="5286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C1D22"/>
                </a:solidFill>
              </a:defRPr>
            </a:pPr>
            <a:r>
              <a:rPr sz="1500" b="1" i="0">
                <a:solidFill>
                  <a:srgbClr val="1C1D22"/>
                </a:solidFill>
              </a:rPr>
              <a:t>1,44% тревожных кадров</a:t>
            </a:r>
          </a:p>
          <a:p xmlns:a="http://schemas.openxmlformats.org/drawingml/2006/main">
            <a:pPr algn="l">
              <a:defRPr sz="1500" b="1" i="0">
                <a:solidFill>
                  <a:srgbClr val="1C1D22"/>
                </a:solidFill>
              </a:defRPr>
            </a:pPr>
            <a:r>
              <a:rPr sz="1500" b="1" i="0">
                <a:solidFill>
                  <a:srgbClr val="1C1D22"/>
                </a:solidFill>
              </a:rPr>
              <a:t>100% специфичности на тестах с точной разметкой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39AFBE-CC35-448A-AFD9-29233988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05375"/>
            <a:ext cx="5286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1">
                <a:solidFill>
                  <a:srgbClr val="1C1D22"/>
                </a:solidFill>
              </a:defRPr>
            </a:pPr>
            <a:r>
              <a:rPr sz="1275" b="0" i="1">
                <a:solidFill>
                  <a:srgbClr val="1C1D22"/>
                </a:solidFill>
              </a:rPr>
              <a:t>Режим по умолчанию: ансамбль из 100 деревьев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d15c3d84bc147c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05250"/>
            <a:ext cx="2857500" cy="1428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Эксперт по ML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Эксперт по робототехнике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RL</a:t>
            </a: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2861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Кирпа Юрий</a:t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766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AI-native команда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КОМАНДА «ITMO GPT»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762000" y="3905250"/>
            <a:ext cx="2857500" cy="142875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Капитан команды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Архитектура решения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Эксперименты и серверная часть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Кирпа Дмитрий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180a5b75644468"/>
          <a:stretch xmlns:a="http://schemas.openxmlformats.org/drawingml/2006/main"/>
        </p:blipFill>
        <p:spPr>
          <a:xfrm xmlns:a="http://schemas.openxmlformats.org/drawingml/2006/main">
            <a:off x="8810625" y="1763713"/>
            <a:ext cx="2381250" cy="1587500"/>
          </a:xfrm>
          <a:prstGeom xmlns:a="http://schemas.openxmlformats.org/drawingml/2006/main" prst="rect">
            <a:avLst/>
          </a:prstGeom>
        </p:spPr>
      </p:pic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29D4AB3-0297-41FA-8784-3D9B61EE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 i="0">
                <a:solidFill>
                  <a:srgbClr val="520977"/>
                </a:solidFill>
              </a:defRPr>
            </a:pPr>
            <a:r>
              <a:rPr sz="4350" b="1" i="0">
                <a:solidFill>
                  <a:srgbClr val="520977"/>
                </a:solidFill>
              </a:rPr>
              <a:t>ДК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2F3EC67-DC83-47B5-941D-6E74CB5B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9550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 i="0">
                <a:solidFill>
                  <a:srgbClr val="520977"/>
                </a:solidFill>
              </a:defRPr>
            </a:pPr>
            <a:r>
              <a:rPr sz="4350" b="1" i="0">
                <a:solidFill>
                  <a:srgbClr val="520977"/>
                </a:solidFill>
              </a:rPr>
              <a:t>ЮК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B2F7AF5-F5F2-497E-BAD2-475487AE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957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6931"/>
          </a:bodyPr>
          <a:lstStyle xmlns:a="http://schemas.openxmlformats.org/drawingml/2006/main"/>
          <a:p xmlns:a="http://schemas.openxmlformats.org/drawingml/2006/main">
            <a:pPr algn="l">
              <a:defRPr sz="1238" b="1" i="0">
                <a:solidFill>
                  <a:srgbClr val="1C1D22"/>
                </a:solidFill>
              </a:defRPr>
            </a:pPr>
            <a:r>
              <a:rPr sz="1238" b="1" i="0">
                <a:solidFill>
                  <a:srgbClr val="1C1D22"/>
                </a:solidFill>
              </a:rPr>
              <a:t>Человек + агенты: складываем сильные стороны.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3AF461D-09CB-4160-984D-696489B4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285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 i="0">
                <a:solidFill>
                  <a:srgbClr val="1C1D22"/>
                </a:solidFill>
              </a:defRPr>
            </a:pPr>
            <a:r>
              <a:rPr sz="1163" b="0" i="0">
                <a:solidFill>
                  <a:srgbClr val="1C1D22"/>
                </a:solidFill>
              </a:rPr>
              <a:t>Мы задаём направление, критерии качества и принимаем решения. Агенты помогают исследовать варианты, писать код и проводить эксперименты.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EC45245-E611-40A0-AA0E-69013821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7435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 i="1">
                <a:solidFill>
                  <a:srgbClr val="520977"/>
                </a:solidFill>
              </a:defRPr>
            </a:pPr>
            <a:r>
              <a:rPr sz="1013" b="0" i="1">
                <a:solidFill>
                  <a:srgbClr val="520977"/>
                </a:solidFill>
              </a:rPr>
              <a:t>dikiydiamond@yandex.ru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be90b9fd2f649c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ПОЧЕМУ МЫ ВЗЯЛИ ЭТУ ЗАДАЧУ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После LLM нас больше всего интересуют системы, которые воспринимают физический мир и действуют в нём. Мы используем каждую возможность развивать этот навык.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Робототехника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Облака точек, ROS 2, синтетические препятствия и измеримые ошибки дают пространство для настоящих экспериментов.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Поработать с LiDAR и метриками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Мы хотели измерить, на что способна связка людей и агентных команд, когда работа распределена по сильным сторонам и у каждого результата есть проверяемый критерий.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Проверить AI-native процесс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7865EF3E-213E-4301-80FF-7BA3518B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6C64AB33-E625-4B5E-AF59-851D8790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CF6232F0-CE18-4B6E-B9BB-6369512B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86013e54dda488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КАК РАБОТАЕТ METROGUARD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КАК НАХОДИМ ПРЕПЯТСТВИЕ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3 ТИПА ОТВЕТА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A326B0-BA15-4AB4-A8B9-7B9B39AE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9B7353-667A-42BF-9E26-A6319B08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52650"/>
            <a:ext cx="3952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 i="0">
                <a:solidFill>
                  <a:srgbClr val="1C1D22"/>
                </a:solidFill>
              </a:defRPr>
            </a:pPr>
            <a:r>
              <a:rPr sz="1238" b="0" i="0">
                <a:solidFill>
                  <a:srgbClr val="1C1D22"/>
                </a:solidFill>
              </a:rPr>
              <a:t>По двум рельсовым нитям восстанавливаем центр, высоту и поворот пути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AFCDDD-6D1D-4F21-B99B-B1FA72DA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0EC530-0F9B-4388-A2E5-99F5FABA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33700"/>
            <a:ext cx="3952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 i="0">
                <a:solidFill>
                  <a:srgbClr val="1C1D22"/>
                </a:solidFill>
              </a:defRPr>
            </a:pPr>
            <a:r>
              <a:rPr sz="1238" b="0" i="0">
                <a:solidFill>
                  <a:srgbClr val="1C1D22"/>
                </a:solidFill>
              </a:rPr>
              <a:t>Строим габарит 2,1 × 3,0 м вдоль найденной траектории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124036-E381-406E-8E07-70C7EBD8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DA0CD3-A069-4D2C-8867-D0347A5A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14750"/>
            <a:ext cx="3952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 i="0">
                <a:solidFill>
                  <a:srgbClr val="1C1D22"/>
                </a:solidFill>
              </a:defRPr>
            </a:pPr>
            <a:r>
              <a:rPr sz="1238" b="0" i="0">
                <a:solidFill>
                  <a:srgbClr val="1C1D22"/>
                </a:solidFill>
              </a:rPr>
              <a:t>Объединяем точки внутри габарита в связные компоненты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1B4656-E22C-409F-A9BD-80E38A29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682191-FAA1-4A8B-BB1C-31E65D69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95800"/>
            <a:ext cx="3952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 i="0">
                <a:solidFill>
                  <a:srgbClr val="1C1D22"/>
                </a:solidFill>
              </a:defRPr>
            </a:pPr>
            <a:r>
              <a:rPr sz="1238" b="0" i="0">
                <a:solidFill>
                  <a:srgbClr val="1C1D22"/>
                </a:solidFill>
              </a:rPr>
              <a:t>Extra Trees: 100 деревьев оценивают форму, плотность и положение кандидата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7A73FE-2973-4D4D-BEE2-00E73DD63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5265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E0EA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ПРЕПЯТСТВИЕ — объект подтверждён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A1BBE5-4C08-4F2A-818E-94EEC296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3370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7EF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ПУТЬ СВОБОДЕН — габарит виден и пуст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65A387-7EAD-4649-9473-0F709027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1475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1D6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НЕДОСТАТОЧНО ДАННЫХ — зона пути видна плохо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78E88C3-181D-4077-9B13-B8403C82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19625"/>
            <a:ext cx="47148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0977"/>
                </a:solidFill>
              </a:defRPr>
            </a:pPr>
            <a:r>
              <a:rPr sz="1275" b="0" i="0">
                <a:solidFill>
                  <a:srgbClr val="520977"/>
                </a:solidFill>
              </a:rPr>
              <a:t>На CPU, без карты тоннеля и дообучения.</a:t>
            </a:r>
          </a:p>
          <a:p xmlns:a="http://schemas.openxmlformats.org/drawingml/2006/main">
            <a:pPr algn="l">
              <a:defRPr sz="1275" b="0" i="0">
                <a:solidFill>
                  <a:srgbClr val="520977"/>
                </a:solidFill>
              </a:defRPr>
            </a:pPr>
            <a:r>
              <a:rPr sz="1275" b="0" i="0">
                <a:solidFill>
                  <a:srgbClr val="520977"/>
                </a:solidFill>
              </a:rPr>
              <a:t>В демо видны габарит, компоненты и расстояние до объекта.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59f6c030e5c430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rPr>
                <a:solidFill>
                  <a:schemeClr val="accent5"/>
                </a:solidFill>
              </a:rPr>
              <a:t>6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Геометрический контур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Работает без обучения: всё, что физически входит в движущийся габарит, становится кандидатом. Это режим максимальной чувствительности.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Фильтр инфраструктуры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100 небольших деревьев оценивают форму, плотность и положение кандидата. Они снижают число тревог от стен, кабелей и платформ.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Optional[Память маршрута]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Если есть чистая запись знакомого участка, текущий кадр сравнивается с кадром из той же точки маршрута. Новые объекты выделяются как изменения. В новом тоннеле режим выключен.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КАК ПРИНИМАЕТСЯ РЕШЕНИЕ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538b573d6234cb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2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5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6 записей организаторов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2 488 кадров · ≈ 4 минуты · ≈ 10 Гц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тоннели, платформа, гермозатвор и стрелка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ОБУЧЕНИЕ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Чистые проезды + наши 3D-препятствия, вставленные в реальные направления лучей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ВАЛИДАЦИЯ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Откладывали целые записи, не соседние кадры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ТЕСТ ОТ ОРГАНИЗАТОРОВ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Отдельная синтетическая сцена: объекты внутри, снаружи и над габаритом</a:t>
            </a:r>
            <a:endParaRPr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ГАБАРИТ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2,1 × 3,0 м по ответам организаторов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МИНИМАЛЬНЫЙ ОБЪЕКТ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0,3 × 0,3 × 0,1 м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РАЗДЕЛЕНИЕ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обучение и валидация на разных записях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НАША СИНТЕТИКА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реальные лучи и корректное перекрытие тоннеля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СИНТЕТИКА ОТ ОРГАНИЗАТОРОВ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отдельный тест, не использовалась в обучении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rPr>
                <a:solidFill>
                  <a:schemeClr val="accent5"/>
                </a:solidFill>
              </a:rPr>
              <a:t>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ДАННЫЕ И ПРОТОКОЛ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5ebb5936b2d040a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rPr>
                <a:solidFill>
                  <a:schemeClr val="accent5"/>
                </a:solidFill>
              </a:rPr>
              <a:t>8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Читаем PointCloud2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XYZI / XYZIRT; шаг точки 16 или 26 байт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Находим рельсы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центр пути, высота и поворот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Строим габарит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2,1 × 3,0 м вдоль кривой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Собираем кандидатов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компоненты, признаки и Extra Trees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Возвращаем результат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статус, расстояние и компоненты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34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8CEEC91B-79B9-4607-A433-0DBAF7E5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299CE901-7462-4B53-94CE-98495BB5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D755E93C-F299-4044-B025-861AC82B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78C1ED30-F73A-4709-87A1-9EE1E808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E0A45622-06FA-40A4-8079-DDF78305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AA6308E0-AFA8-4E59-8759-6FE6BFF8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54311620-8D6C-451E-8DC8-0D0394A3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39958FC1-71E2-4491-9470-38F543EF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B8DEE478-F9AF-4EC9-82D4-432B36E5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44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45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5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5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2" y="353862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ОБРАБОТКА КАДРА</a:t>
            </a:r>
            <a:endParaRPr/>
          </a:p>
        </p:txBody>
      </p:sp>
      <p:sp>
        <p:nvSpPr>
          <p:cNvPr id="14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6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b0a82db2b10428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rPr>
                <a:solidFill>
                  <a:schemeClr val="accent5"/>
                </a:solidFill>
              </a:rPr>
              <a:t>9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Геометрия для полноты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68,0% — точные объекты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90,6% — незнакомые формы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Минус: много лишних тревог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Ансамбль для снижения тревог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1,44% тревожных кадров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100% специфичности на точных тестах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Режим по умолчанию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Сравнение проездов для знакомого маршрута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Чистый кадр из той же позиции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87,7% полноты на 376 парах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Только для знакомого маршрута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ТРИ РЕЖИМА ДЛЯ РАЗНЫХ УСЛОВИЙ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c17face9bd44b7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ПРОВЕРЯЕМ ГРАНИЦЫ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Объект 0,3 × 0,3 × 0,1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20 / 40 / 60 / 80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внутри, снаружи и выше габарита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СОХРАНЯЕМ ЛУЧИ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Берём направления реальных лучей. 3d-объект заменяет только более дальний возврат от тоннеля.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ПРОВЕРЯЕМ, ВИДЕН ЛИ ОБЪЕКТ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Если объект дал 0–2 отражения, лидар его почти не видел — такой кадр не считаем отдельным примером. Интервалы без точной разметки оцениваем целиком.</a:t>
            </a:r>
            <a:endParaRPr>
              <a:solidFill>
                <a:schemeClr val="tx1"/>
              </a:solidFill>
            </a:endParaRPr>
          </a:p>
        </p:txBody>
      </p:sp>
      <p:cxnSp>
        <p:nvCxnSpPr>
          <p:cNvPr id="311" name="Google Shape;2799;p94"/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КАК МЫ СОЗДАЁМ СИНТЕТИКУ</a:t>
            </a:r>
            <a:endParaRPr/>
          </a:p>
        </p:txBody>
      </p:sp>
      <p:cxnSp>
        <p:nvCxnSpPr>
          <p:cNvPr id="348" name="Google Shape;2799;p94"/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df88c1401544e9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2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9c7dafe9543a6"/>
          <a:stretch xmlns:a="http://schemas.openxmlformats.org/drawingml/2006/main"/>
        </p:blipFill>
        <p:spPr>
          <a:xfrm xmlns:a="http://schemas.openxmlformats.org/drawingml/2006/main">
            <a:off x="2861733" y="1000125"/>
            <a:ext cx="6468533" cy="3638550"/>
          </a:xfrm>
          <a:prstGeom xmlns:a="http://schemas.openxmlformats.org/drawingml/2006/main" prst="rect">
            <a:avLst/>
          </a:prstGeom>
        </p:spPr>
      </p:pic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rPr>
                <a:solidFill>
                  <a:schemeClr val="accent5"/>
                </a:solidFill>
              </a:rPr>
              <a:t>11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РЕАЛЬНОЕ ОБЛАКО ТОЧЕК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3 синхронных ракурса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3 ГОТОВЫХ СЦЕНАРИЯ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можно без загрузки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ГАБАРИТ И КОМПОНЕНТЫ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режимы · ход решений · объяснение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ДЕМО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2026-09-29T17:20:36.0130000Z</dcterms:created>
  <dcterms:modified xsi:type="dcterms:W3CDTF">2026-09-29T17:20:36.0130000Z</dcterms:modified>
</coreProperties>
</file>